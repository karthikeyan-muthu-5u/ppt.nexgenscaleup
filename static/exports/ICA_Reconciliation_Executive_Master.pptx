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7800" y="127000"/>
            <a:ext cx="11836400" cy="558800"/>
          </a:xfrm>
          <a:prstGeom prst="roundRect">
            <a:avLst/>
          </a:prstGeom>
          <a:solidFill>
            <a:srgbClr val="0F1621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7800" y="660400"/>
            <a:ext cx="118364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9400" y="203200"/>
            <a:ext cx="508000" cy="3556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24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INTERCOMPANY ACCOUNTING (ICA) RECONCILIATION</a:t>
            </a:r>
          </a:p>
          <a:p>
            <a:pPr>
              <a:defRPr sz="750" b="1">
                <a:solidFill>
                  <a:srgbClr val="34D399"/>
                </a:solidFill>
                <a:latin typeface="Segoe UI"/>
              </a:defRPr>
            </a:pPr>
            <a:r>
              <a:t>OPERATIONAL BLUEPRINT: AS-IS BASELINE vs. TO-BE AUTOMATION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1000" y="228600"/>
            <a:ext cx="1206500" cy="3302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F8FAFC"/>
                </a:solidFill>
                <a:latin typeface="Segoe UI"/>
              </a:defRPr>
            </a:pPr>
            <a:r>
              <a:t>1  AS-IS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6400" y="228600"/>
            <a:ext cx="1841500" cy="330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4D399"/>
                </a:solidFill>
                <a:latin typeface="Segoe UI"/>
              </a:defRPr>
            </a:pPr>
            <a:r>
              <a:t>2  AUTOMATION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56800" y="228600"/>
            <a:ext cx="1955800" cy="330200"/>
          </a:xfrm>
          <a:prstGeom prst="roundRect">
            <a:avLst/>
          </a:prstGeom>
          <a:solidFill>
            <a:srgbClr val="0A1E30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700" b="1">
                <a:solidFill>
                  <a:srgbClr val="38BDF8"/>
                </a:solidFill>
                <a:latin typeface="Segoe UI"/>
              </a:defRPr>
            </a:pPr>
            <a:r>
              <a:t>TO-BE: TOUCHLESS SAP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00" y="736600"/>
            <a:ext cx="904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1800" y="736600"/>
            <a:ext cx="2692400" cy="5994400"/>
          </a:xfrm>
          <a:prstGeom prst="roundRect">
            <a:avLst/>
          </a:prstGeom>
          <a:solidFill>
            <a:srgbClr val="0E131C"/>
          </a:solidFill>
          <a:ln w="12700">
            <a:solidFill>
              <a:srgbClr val="1C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3400" y="812800"/>
            <a:ext cx="2489200" cy="33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ENTERPRISE PLATFORM &amp; CONTROLS</a:t>
            </a:r>
          </a:p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CORE AUTOMATION &amp; COMPLIANCE 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23400" y="11938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3400" y="1193800"/>
            <a:ext cx="44450" cy="609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700" y="12319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Automated Follow-up &amp; Escalation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Configurable SLA aging triggers &amp; multi-tier notification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3400" y="18669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23400" y="1866900"/>
            <a:ext cx="44450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700" y="19050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Email Tracking &amp; AI Categorization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NLP intent detection &amp; automated payload parsing from replies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3400" y="25400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23400" y="2540000"/>
            <a:ext cx="44450" cy="609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700" y="25781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Processor / Management Dashboards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Operational worklists &amp; CFO executive balance ageing cockpits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3400" y="32131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3400" y="3213100"/>
            <a:ext cx="44450" cy="609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700" y="32512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Writeback &amp; Action Ownership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Direct SAP BAPI / RFC posting with maker-checker audit signoff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3400" y="38862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3400" y="3886200"/>
            <a:ext cx="44450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700" y="39243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Ageing, TAT &amp; Closure Analytics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Real-time cycle time analytics across 0-30, 31-60, 60+ day buckets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3400" y="45593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23400" y="4559300"/>
            <a:ext cx="44450" cy="609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700" y="45974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Role-Based Access &amp; Drilldowns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Granular entity-level permissions &amp; strict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3400" y="52324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3400" y="5232400"/>
            <a:ext cx="44450" cy="609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700" y="52705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Archive, History &amp; Audit Trail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Immutable timestamped event logs for external SOX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3400" y="5905500"/>
            <a:ext cx="2489200" cy="60960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53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3400" y="5905500"/>
            <a:ext cx="44450" cy="609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700" y="5943600"/>
            <a:ext cx="23114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Admin-Managed Rules &amp; Mappings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Self-serve trading partner rules engine without IT code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" y="812800"/>
            <a:ext cx="1981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0284C7"/>
                </a:solidFill>
                <a:latin typeface="Segoe UI"/>
              </a:defRPr>
            </a:pPr>
            <a:r>
              <a:t>1. INGESTION &amp; TRIAGE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ERP Source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400" y="1155700"/>
            <a:ext cx="1981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92% Touchless 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2200" y="812800"/>
            <a:ext cx="25146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2. EXCEPTION TAXONOMY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4 Root Causes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62200" y="1155700"/>
            <a:ext cx="25146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88% Auto-Categorized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8400" y="812800"/>
            <a:ext cx="22352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6366F1"/>
                </a:solidFill>
                <a:latin typeface="Segoe UI"/>
              </a:defRPr>
            </a:pPr>
            <a:r>
              <a:t>3. RESOLUTION TRACKS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Investigation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78400" y="1155700"/>
            <a:ext cx="22352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74% Auto-Remediated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812800"/>
            <a:ext cx="1828800" cy="304800"/>
          </a:xfrm>
          <a:prstGeom prst="roundRect">
            <a:avLst/>
          </a:prstGeom>
          <a:solidFill>
            <a:srgbClr val="121924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tIns="0" rIns="0" bIns="0"/>
          <a:lstStyle/>
          <a:p>
            <a:pPr algn="ctr">
              <a:defRPr sz="750" b="1">
                <a:solidFill>
                  <a:srgbClr val="E11D48"/>
                </a:solidFill>
                <a:latin typeface="Segoe UI"/>
              </a:defRPr>
            </a:pPr>
            <a:r>
              <a:t>4. CLOSED-LOOP CLOSURE  </a:t>
            </a:r>
          </a:p>
          <a:p>
            <a:pPr>
              <a:defRPr sz="600">
                <a:solidFill>
                  <a:srgbClr val="94A3B8"/>
                </a:solidFill>
                <a:latin typeface="Segoe UI"/>
              </a:defRPr>
            </a:pPr>
            <a:r>
              <a:t>Governance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1155700"/>
            <a:ext cx="1828800" cy="203200"/>
          </a:xfrm>
          <a:prstGeom prst="round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50" b="1">
                <a:solidFill>
                  <a:srgbClr val="34D399"/>
                </a:solidFill>
                <a:latin typeface="Segoe UI"/>
              </a:defRPr>
            </a:pPr>
            <a:r>
              <a:t>⚡ TO-BE: -68% Clearing TAT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400" y="14478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600" y="14986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Extract Open-Item Report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QLIK SENSE / SAP S4HANA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Pull open AP/AR ledger records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Exclude pre-matched clearing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Delta sync across ERP instances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" y="21971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Auto-Data Pipeline Sync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400" y="25654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00" y="26162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Filter by Company Code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TRADING PARTNER MATRIX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Apply bilateral company code pairs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Normalize transaction currencies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Multi-entity ledger alignment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33147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Partner Matrix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400" y="3683000"/>
            <a:ext cx="1981200" cy="9906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600" y="3733800"/>
            <a:ext cx="18288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Open-Item Classification</a:t>
            </a:r>
          </a:p>
          <a:p>
            <a:pPr>
              <a:defRPr sz="680" b="1">
                <a:solidFill>
                  <a:srgbClr val="38BDF8"/>
                </a:solidFill>
                <a:latin typeface="Segoe UI"/>
              </a:defRPr>
            </a:pPr>
            <a:r>
              <a:t>EXCEPTION TAXONOMY ROUTER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Triage unallocated balance lines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variance segmentation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Route into 4 exception streams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2900" y="4432300"/>
            <a:ext cx="1854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ML Exception Categorizer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9400" y="4826000"/>
            <a:ext cx="1981200" cy="1803400"/>
          </a:xfrm>
          <a:prstGeom prst="round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01600" rIns="76200" bIns="0"/>
          <a:lstStyle/>
          <a:p>
            <a:pPr algn="ctr">
              <a:defRPr sz="850" b="1">
                <a:solidFill>
                  <a:srgbClr val="34D399"/>
                </a:solidFill>
                <a:latin typeface="Segoe UI"/>
              </a:defRPr>
            </a:pPr>
            <a:r>
              <a:t>AR/AP COMMAND CENTER</a:t>
            </a:r>
          </a:p>
          <a:p>
            <a:pPr algn="ctr">
              <a:defRPr sz="680" b="1">
                <a:solidFill>
                  <a:srgbClr val="F8FAFC"/>
                </a:solidFill>
                <a:latin typeface="Segoe UI"/>
              </a:defRPr>
            </a:pPr>
            <a:r>
              <a:t>DIRECT RFC / BAPI ORCHESTRATION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Touchless pre-matching engine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Real-time bilateral ledger post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Automated reconciliation audit</a:t>
            </a:r>
          </a:p>
          <a:p>
            <a:pPr>
              <a:defRPr sz="650">
                <a:solidFill>
                  <a:srgbClr val="94A3B8"/>
                </a:solidFill>
                <a:latin typeface="Segoe UI"/>
              </a:defRPr>
            </a:pPr>
            <a:r>
              <a:t>• Zero spreadsheet dependency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" y="6362700"/>
            <a:ext cx="1854200" cy="2032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Centralized Autonomous Hub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2200" y="14478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8400" y="14986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A: Posting / Scope Gaps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MISSING LEDGER ENTRIES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Posting not found (one-sided booking)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Kernel out of scope / entity excluded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Cross-period posting timing deltas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25700" y="24257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Auto-Scope &amp; Ledger Audit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2200" y="27686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38400" y="28194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B: AP-AR Mismatches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SIGN &amp; ALLOCATION VARIANCES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AP-AR sign issue (+ / - debit-credit flip)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Clearing / allocation gap between books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remaining open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25700" y="37465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Sign &amp; Allocation Inverter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2200" y="40894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38400" y="41402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C: Interface Issues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IDOC &amp; EDI SYNTAX FAILURES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IDoc status 51 / OCR capture error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EDI connection / Non-SAP legacy file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Middleware translation dropouts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25700" y="50673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Self-Healing IDoc Reprocessor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62200" y="5410200"/>
            <a:ext cx="25146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38400" y="5461000"/>
            <a:ext cx="23622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TYPE D: Counterparty Gaps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TIMING ASYMMETRY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AR cleared, AP to clear (settlement delay)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Cash to be allocated (unapplied cash)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AP paid, AR to clear (cross-border float)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25700" y="6388100"/>
            <a:ext cx="23876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Auto-Bilateral Settlement Ping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78400" y="14478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4600" y="14986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Troubleshoot IDoc via HWI</a:t>
            </a:r>
          </a:p>
          <a:p>
            <a:pPr>
              <a:defRPr sz="680" b="1">
                <a:solidFill>
                  <a:srgbClr val="6366F1"/>
                </a:solidFill>
                <a:latin typeface="Segoe UI"/>
              </a:defRPr>
            </a:pPr>
            <a:r>
              <a:t>INTERFACE REMEDIATION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Analyze segment error in HWI portal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Auto-correct missing metadata syntax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Re-trigger RFC payload transmission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41900" y="24257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Self-Repairing IDoc Bot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78400" y="27686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4600" y="28194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Retrieve Invoice Copy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DOCUMENT MATCHING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Search vendor billing document archives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Fetch supporting voucher &amp; line details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Validate tax code &amp; line item total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1900" y="37465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Smart OCR Invoice Voucher Fetch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78400" y="40894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54600" y="41402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Review &amp; Analyze Issue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VARIANCE INVESTIGATION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Root-cause debit/credit discrepancies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Verify exchange rate valuation &amp; FX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Coordinate manual adjustment entries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1900" y="50673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AI Variance Root-Cause Engine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8400" y="5410200"/>
            <a:ext cx="2235200" cy="1219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4600" y="5461000"/>
            <a:ext cx="2082800" cy="90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Waiting for Counterparty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BILATERAL CLEARING DELAY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Awaiting clearing posting from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Unreconciled open item in partner book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Cross-entity clearing dependency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41900" y="6388100"/>
            <a:ext cx="21082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Automated Counterparty Handshake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0" y="14478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91400" y="14986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Reconciliation Discrepancy</a:t>
            </a:r>
          </a:p>
          <a:p>
            <a:pPr>
              <a:defRPr sz="680" b="1">
                <a:solidFill>
                  <a:srgbClr val="D97706"/>
                </a:solidFill>
                <a:latin typeface="Segoe UI"/>
              </a:defRPr>
            </a:pPr>
            <a:r>
              <a:t>TOLERANCE GATE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Unresolved balance delta &gt; $0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Material variance threshold flag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Automated discrepancy logging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Triggers notification protocol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378700" y="28067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Touchless Postback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32385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1400" y="32893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Send Action Notification</a:t>
            </a:r>
          </a:p>
          <a:p>
            <a:pPr>
              <a:defRPr sz="680" b="1">
                <a:solidFill>
                  <a:srgbClr val="0284C7"/>
                </a:solidFill>
                <a:latin typeface="Segoe UI"/>
              </a:defRPr>
            </a:pPr>
            <a:r>
              <a:t>EMAIL CHASER PROTOCOL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Dispatch structured email to partner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Attach transaction ledger references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Request confirmation / clearance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Tracks delivery &amp; open receipts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78700" y="45974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Autonomous AI Chaser Bot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5029200"/>
            <a:ext cx="1828800" cy="1600200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91400" y="5080000"/>
            <a:ext cx="1676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8FAFC"/>
                </a:solidFill>
                <a:latin typeface="Segoe UI"/>
              </a:defRPr>
            </a:pPr>
            <a:r>
              <a:t>Initiate Escalation Matrix</a:t>
            </a:r>
          </a:p>
          <a:p>
            <a:pPr>
              <a:defRPr sz="680" b="1">
                <a:solidFill>
                  <a:srgbClr val="E11D48"/>
                </a:solidFill>
                <a:latin typeface="Segoe UI"/>
              </a:defRPr>
            </a:pPr>
            <a:r>
              <a:t>SLA &amp; TAT BREACH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No response within defined SLA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1: Lead Accounting Analyst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2: Shared Services Manager</a:t>
            </a:r>
          </a:p>
          <a:p>
            <a:pPr>
              <a:defRPr sz="620">
                <a:solidFill>
                  <a:srgbClr val="94A3B8"/>
                </a:solidFill>
                <a:latin typeface="Segoe UI"/>
              </a:defRPr>
            </a:pPr>
            <a:r>
              <a:t>• Tier 3: Global Corporate Controller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78700" y="6388100"/>
            <a:ext cx="1701800" cy="190500"/>
          </a:xfrm>
          <a:prstGeom prst="round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620" b="1">
                <a:solidFill>
                  <a:srgbClr val="34D399"/>
                </a:solidFill>
                <a:latin typeface="Segoe UI"/>
              </a:defRPr>
            </a:pPr>
            <a:r>
              <a:t>⚡ TO-BE: Auto-SLA Hierarchy Escalator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70000" y="24384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0000" y="3556000"/>
            <a:ext cx="0" cy="1270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60600" y="2057400"/>
            <a:ext cx="101600" cy="1943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60600" y="3378200"/>
            <a:ext cx="101600" cy="749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60600" y="4254500"/>
            <a:ext cx="101600" cy="44450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260600" y="4381500"/>
            <a:ext cx="101600" cy="16383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76800" y="2057400"/>
            <a:ext cx="101600" cy="0"/>
          </a:xfrm>
          <a:prstGeom prst="line">
            <a:avLst/>
          </a:prstGeom>
          <a:ln w="1524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76800" y="3378200"/>
            <a:ext cx="101600" cy="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76800" y="4699000"/>
            <a:ext cx="101600" cy="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876800" y="6019800"/>
            <a:ext cx="101600" cy="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213600" y="2057400"/>
            <a:ext cx="101600" cy="1905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213600" y="2374900"/>
            <a:ext cx="101600" cy="10033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13600" y="2501900"/>
            <a:ext cx="101600" cy="2197100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213600" y="2628900"/>
            <a:ext cx="101600" cy="33909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29600" y="3048000"/>
            <a:ext cx="0" cy="190500"/>
          </a:xfrm>
          <a:prstGeom prst="line">
            <a:avLst/>
          </a:prstGeom>
          <a:ln w="1524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229600" y="4838700"/>
            <a:ext cx="0" cy="190500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