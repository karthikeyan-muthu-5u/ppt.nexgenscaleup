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7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13" Type="http://schemas.openxmlformats.org/officeDocument/2006/relationships/image" Target="../media/image12.gif"/><Relationship Id="rId18" Type="http://schemas.openxmlformats.org/officeDocument/2006/relationships/image" Target="../media/image17.gif"/><Relationship Id="rId3" Type="http://schemas.openxmlformats.org/officeDocument/2006/relationships/image" Target="../media/image2.gif"/><Relationship Id="rId7" Type="http://schemas.openxmlformats.org/officeDocument/2006/relationships/image" Target="../media/image6.gif"/><Relationship Id="rId12" Type="http://schemas.openxmlformats.org/officeDocument/2006/relationships/image" Target="../media/image11.gif"/><Relationship Id="rId17" Type="http://schemas.openxmlformats.org/officeDocument/2006/relationships/image" Target="../media/image16.gif"/><Relationship Id="rId2" Type="http://schemas.openxmlformats.org/officeDocument/2006/relationships/image" Target="../media/image1.png"/><Relationship Id="rId16" Type="http://schemas.openxmlformats.org/officeDocument/2006/relationships/image" Target="../media/image15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gif"/><Relationship Id="rId11" Type="http://schemas.openxmlformats.org/officeDocument/2006/relationships/image" Target="../media/image10.gif"/><Relationship Id="rId5" Type="http://schemas.openxmlformats.org/officeDocument/2006/relationships/image" Target="../media/image4.gif"/><Relationship Id="rId15" Type="http://schemas.openxmlformats.org/officeDocument/2006/relationships/image" Target="../media/image14.gif"/><Relationship Id="rId10" Type="http://schemas.openxmlformats.org/officeDocument/2006/relationships/image" Target="../media/image9.gif"/><Relationship Id="rId4" Type="http://schemas.openxmlformats.org/officeDocument/2006/relationships/image" Target="../media/image3.gif"/><Relationship Id="rId9" Type="http://schemas.openxmlformats.org/officeDocument/2006/relationships/image" Target="../media/image8.gif"/><Relationship Id="rId14" Type="http://schemas.openxmlformats.org/officeDocument/2006/relationships/image" Target="../media/image1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3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66928"/>
            <a:ext cx="12188952" cy="22860"/>
          </a:xfrm>
          <a:prstGeom prst="rect">
            <a:avLst/>
          </a:prstGeom>
          <a:solidFill>
            <a:srgbClr val="00A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400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96"/>
              </a:lnSpc>
            </a:pPr>
            <a:r>
              <a:rPr sz="1800" b="1">
                <a:solidFill>
                  <a:srgbClr val="FFFFFF"/>
                </a:solidFill>
                <a:latin typeface="Aptos"/>
              </a:rPr>
              <a:t>ICA Reconciliation  |  AS-IS WORKFLOW BLUEPRINT</a:t>
            </a:r>
          </a:p>
          <a:p>
            <a:pPr algn="l">
              <a:lnSpc>
                <a:spcPts val="1037"/>
              </a:lnSpc>
              <a:spcBef>
                <a:spcPts val="200"/>
              </a:spcBef>
            </a:pPr>
            <a:r>
              <a:rPr sz="850" b="0">
                <a:solidFill>
                  <a:srgbClr val="9AB0C6"/>
                </a:solidFill>
                <a:latin typeface="Aptos"/>
              </a:rPr>
              <a:t>PHILIPS  •  INTERCOMPANY ACCOUNTING PROCESS FLOW &amp;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91440"/>
            <a:ext cx="1463040" cy="384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" dist="40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pic>
        <p:nvPicPr>
          <p:cNvPr id="7" name="Picture 6" descr="media_1788506140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37160"/>
            <a:ext cx="1280160" cy="2926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649224"/>
            <a:ext cx="2468880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  <a:effectLst>
            <a:outerShdw blurRad="10000" dist="50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" y="685800"/>
            <a:ext cx="347472" cy="256032"/>
          </a:xfrm>
          <a:prstGeom prst="roundRect">
            <a:avLst>
              <a:gd name="adj" fmla="val 3000"/>
            </a:avLst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73152" rIns="0" bIns="73152" rtlCol="0" anchor="ctr"/>
          <a:lstStyle/>
          <a:p>
            <a:pPr algn="ctr">
              <a:lnSpc>
                <a:spcPts val="1098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658368"/>
            <a:ext cx="195681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>
                <a:solidFill>
                  <a:srgbClr val="101D30"/>
                </a:solidFill>
                <a:latin typeface="Aptos"/>
              </a:rPr>
              <a:t>INGESTION &amp; SCOPE</a:t>
            </a:r>
          </a:p>
          <a:p>
            <a:pPr algn="l">
              <a:lnSpc>
                <a:spcPts val="829"/>
              </a:lnSpc>
              <a:spcBef>
                <a:spcPts val="100"/>
              </a:spcBef>
            </a:pPr>
            <a:r>
              <a:rPr sz="680" b="0">
                <a:solidFill>
                  <a:srgbClr val="5E7794"/>
                </a:solidFill>
                <a:latin typeface="Aptos"/>
              </a:rPr>
              <a:t>Qlik Sense Extract &amp; Filtering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89504" y="813816"/>
            <a:ext cx="164592" cy="0"/>
          </a:xfrm>
          <a:prstGeom prst="line">
            <a:avLst/>
          </a:prstGeom>
          <a:ln w="25400">
            <a:solidFill>
              <a:srgbClr val="5E77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108960" y="649224"/>
            <a:ext cx="3108960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  <a:effectLst>
            <a:outerShdw blurRad="10000" dist="50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182112" y="685800"/>
            <a:ext cx="347472" cy="256032"/>
          </a:xfrm>
          <a:prstGeom prst="roundRect">
            <a:avLst>
              <a:gd name="adj" fmla="val 3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73152" rIns="0" bIns="73152" rtlCol="0" anchor="ctr"/>
          <a:lstStyle/>
          <a:p>
            <a:pPr algn="ctr">
              <a:lnSpc>
                <a:spcPts val="1098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658368"/>
            <a:ext cx="259689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>
                <a:solidFill>
                  <a:srgbClr val="101D30"/>
                </a:solidFill>
                <a:latin typeface="Aptos"/>
              </a:rPr>
              <a:t>CLASSIFY &amp; TRIAGE</a:t>
            </a:r>
          </a:p>
          <a:p>
            <a:pPr algn="l">
              <a:lnSpc>
                <a:spcPts val="829"/>
              </a:lnSpc>
              <a:spcBef>
                <a:spcPts val="100"/>
              </a:spcBef>
            </a:pPr>
            <a:r>
              <a:rPr sz="680" b="0">
                <a:solidFill>
                  <a:srgbClr val="5E7794"/>
                </a:solidFill>
                <a:latin typeface="Aptos"/>
              </a:rPr>
              <a:t>3-Track Operational Taxonomy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72783" y="813816"/>
            <a:ext cx="164593" cy="0"/>
          </a:xfrm>
          <a:prstGeom prst="line">
            <a:avLst/>
          </a:prstGeom>
          <a:ln w="25400">
            <a:solidFill>
              <a:srgbClr val="5E77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92240" y="649224"/>
            <a:ext cx="2468880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  <a:effectLst>
            <a:outerShdw blurRad="10000" dist="50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65392" y="685800"/>
            <a:ext cx="347472" cy="256032"/>
          </a:xfrm>
          <a:prstGeom prst="roundRect">
            <a:avLst>
              <a:gd name="adj" fmla="val 3000"/>
            </a:avLst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73152" rIns="0" bIns="73152" rtlCol="0" anchor="ctr"/>
          <a:lstStyle/>
          <a:p>
            <a:pPr algn="ctr">
              <a:lnSpc>
                <a:spcPts val="1098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7" y="658368"/>
            <a:ext cx="195681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>
                <a:solidFill>
                  <a:srgbClr val="101D30"/>
                </a:solidFill>
                <a:latin typeface="Aptos"/>
              </a:rPr>
              <a:t>RESOLVE BY CAUSE</a:t>
            </a:r>
          </a:p>
          <a:p>
            <a:pPr algn="l">
              <a:lnSpc>
                <a:spcPts val="829"/>
              </a:lnSpc>
              <a:spcBef>
                <a:spcPts val="100"/>
              </a:spcBef>
            </a:pPr>
            <a:r>
              <a:rPr sz="680" b="0">
                <a:solidFill>
                  <a:srgbClr val="5E7794"/>
                </a:solidFill>
                <a:latin typeface="Aptos"/>
              </a:rPr>
              <a:t>HWI, OCR, Forensic &amp; Counterparty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15984" y="813816"/>
            <a:ext cx="164592" cy="0"/>
          </a:xfrm>
          <a:prstGeom prst="line">
            <a:avLst/>
          </a:prstGeom>
          <a:ln w="25400">
            <a:solidFill>
              <a:srgbClr val="5E77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35440" y="649224"/>
            <a:ext cx="2587752" cy="3291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  <a:effectLst>
            <a:outerShdw blurRad="10000" dist="5000" dir="5400000" rotWithShape="0">
              <a:srgbClr val="000000">
                <a:alpha val="7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308592" y="685800"/>
            <a:ext cx="347472" cy="256032"/>
          </a:xfrm>
          <a:prstGeom prst="roundRect">
            <a:avLst>
              <a:gd name="adj" fmla="val 3000"/>
            </a:avLst>
          </a:prstGeom>
          <a:solidFill>
            <a:srgbClr val="D946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73152" rIns="0" bIns="73152" rtlCol="0" anchor="ctr"/>
          <a:lstStyle/>
          <a:p>
            <a:pPr algn="ctr">
              <a:lnSpc>
                <a:spcPts val="1098"/>
              </a:lnSpc>
            </a:pPr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0928" y="658368"/>
            <a:ext cx="207568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>
                <a:solidFill>
                  <a:srgbClr val="101D30"/>
                </a:solidFill>
                <a:latin typeface="Aptos"/>
              </a:rPr>
              <a:t>CLOSE THE LOOP</a:t>
            </a:r>
          </a:p>
          <a:p>
            <a:pPr algn="l">
              <a:lnSpc>
                <a:spcPts val="829"/>
              </a:lnSpc>
              <a:spcBef>
                <a:spcPts val="100"/>
              </a:spcBef>
            </a:pPr>
            <a:r>
              <a:rPr sz="680" b="0">
                <a:solidFill>
                  <a:srgbClr val="5E7794"/>
                </a:solidFill>
                <a:latin typeface="Aptos"/>
              </a:rPr>
              <a:t>Escalation Matrix &amp; Governance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658" y="1078992"/>
            <a:ext cx="11457432" cy="56144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BFE3E6"/>
            </a:solidFill>
            <a:prstDash val="lgDash"/>
          </a:ln>
          <a:effectLst>
            <a:outerShdw blurRad="18000" dist="9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62940" y="1011794"/>
            <a:ext cx="1432560" cy="219456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73152" rIns="0" bIns="73152" rtlCol="0" anchor="ctr"/>
          <a:lstStyle/>
          <a:p>
            <a:pPr algn="ctr">
              <a:lnSpc>
                <a:spcPts val="976"/>
              </a:lnSpc>
            </a:pPr>
            <a:r>
              <a:rPr sz="800" b="1">
                <a:solidFill>
                  <a:srgbClr val="FFFFFF"/>
                </a:solidFill>
                <a:latin typeface="Aptos"/>
              </a:rPr>
              <a:t>PHILIPS AS-IS 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1389888"/>
            <a:ext cx="18288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  <a:effectLst>
            <a:outerShdw blurRad="8000" dist="40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940722" y="1492666"/>
            <a:ext cx="434522" cy="434522"/>
          </a:xfrm>
          <a:prstGeom prst="ellipse">
            <a:avLst/>
          </a:prstGeom>
          <a:solidFill>
            <a:srgbClr val="D6EAFA"/>
          </a:solidFill>
          <a:ln>
            <a:noFill/>
          </a:ln>
          <a:effectLst>
            <a:outerShdw blurRad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27" name="Picture 26" descr="spec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816" y="1508760"/>
            <a:ext cx="402336" cy="4023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1520" y="1517904"/>
            <a:ext cx="124358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71"/>
              </a:lnSpc>
            </a:pPr>
            <a:r>
              <a:rPr sz="960" b="1">
                <a:solidFill>
                  <a:srgbClr val="101D30"/>
                </a:solidFill>
                <a:latin typeface="Aptos"/>
              </a:rPr>
              <a:t>Accounting Specialist</a:t>
            </a:r>
          </a:p>
          <a:p>
            <a:pPr algn="l">
              <a:lnSpc>
                <a:spcPts val="902"/>
              </a:lnSpc>
              <a:spcBef>
                <a:spcPts val="200"/>
              </a:spcBef>
            </a:pPr>
            <a:r>
              <a:rPr sz="740" b="0">
                <a:solidFill>
                  <a:srgbClr val="5E7794"/>
                </a:solidFill>
                <a:latin typeface="Aptos"/>
              </a:rPr>
              <a:t>Philips Accounting Lead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36192" y="2029968"/>
            <a:ext cx="0" cy="329184"/>
          </a:xfrm>
          <a:prstGeom prst="line">
            <a:avLst/>
          </a:prstGeom>
          <a:ln w="25400">
            <a:solidFill>
              <a:srgbClr val="0B5C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1792" y="2359152"/>
            <a:ext cx="1828800" cy="1152144"/>
          </a:xfrm>
          <a:prstGeom prst="roundRect">
            <a:avLst>
              <a:gd name="adj" fmla="val 5000"/>
            </a:avLst>
          </a:prstGeom>
          <a:solidFill>
            <a:srgbClr val="EEF5FC"/>
          </a:solidFill>
          <a:ln w="9525">
            <a:solidFill>
              <a:srgbClr val="B8D5F2"/>
            </a:solidFill>
          </a:ln>
          <a:effectLst>
            <a:outerShdw blurRad="10000" dist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" y="2432304"/>
            <a:ext cx="41148" cy="1005840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916581" y="2698211"/>
            <a:ext cx="474024" cy="474024"/>
          </a:xfrm>
          <a:prstGeom prst="ellipse">
            <a:avLst/>
          </a:prstGeom>
          <a:solidFill>
            <a:srgbClr val="D6EAFA"/>
          </a:solidFill>
          <a:ln>
            <a:noFill/>
          </a:ln>
          <a:effectLst>
            <a:outerShdw blurRad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33" name="Picture 32" descr="qlik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4138" y="2715768"/>
            <a:ext cx="438912" cy="43891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31520" y="2505456"/>
            <a:ext cx="1225295" cy="85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1">
                <a:solidFill>
                  <a:srgbClr val="101D30"/>
                </a:solidFill>
                <a:latin typeface="Aptos"/>
              </a:rPr>
              <a:t>Extract Open-Item Report</a:t>
            </a:r>
          </a:p>
          <a:p>
            <a:pPr algn="l">
              <a:lnSpc>
                <a:spcPts val="915"/>
              </a:lnSpc>
              <a:spcBef>
                <a:spcPts val="350"/>
              </a:spcBef>
            </a:pPr>
            <a:r>
              <a:rPr sz="750" b="0">
                <a:solidFill>
                  <a:srgbClr val="5E7794"/>
                </a:solidFill>
                <a:latin typeface="Aptos"/>
              </a:rPr>
              <a:t>Qlik Sense extract  |  Exclude reciprocal matched items.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536192" y="3511296"/>
            <a:ext cx="0" cy="347472"/>
          </a:xfrm>
          <a:prstGeom prst="line">
            <a:avLst/>
          </a:prstGeom>
          <a:ln w="25400">
            <a:solidFill>
              <a:srgbClr val="0B5C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21792" y="3858768"/>
            <a:ext cx="1828800" cy="5852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8D5F2"/>
            </a:solidFill>
          </a:ln>
          <a:effectLst>
            <a:outerShdw blurRad="7000" dist="35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997781" y="3963741"/>
            <a:ext cx="375269" cy="375269"/>
          </a:xfrm>
          <a:prstGeom prst="ellipse">
            <a:avLst/>
          </a:prstGeom>
          <a:solidFill>
            <a:srgbClr val="D6EAFA"/>
          </a:solidFill>
          <a:ln>
            <a:noFill/>
          </a:ln>
          <a:effectLst>
            <a:outerShdw blurRad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38" name="Picture 37" descr="filt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3977639"/>
            <a:ext cx="347472" cy="34747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31520" y="3968496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073"/>
              </a:lnSpc>
            </a:pPr>
            <a:r>
              <a:rPr sz="880" b="1">
                <a:solidFill>
                  <a:srgbClr val="0B5CAD"/>
                </a:solidFill>
                <a:latin typeface="Aptos"/>
              </a:rPr>
              <a:t>Filter by Company Code</a:t>
            </a:r>
          </a:p>
          <a:p>
            <a:pPr algn="l">
              <a:lnSpc>
                <a:spcPts val="853"/>
              </a:lnSpc>
              <a:spcBef>
                <a:spcPts val="200"/>
              </a:spcBef>
            </a:pPr>
            <a:r>
              <a:rPr sz="700" b="0">
                <a:solidFill>
                  <a:srgbClr val="5E7794"/>
                </a:solidFill>
                <a:latin typeface="Aptos"/>
              </a:rPr>
              <a:t>Scope validation by entity code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536192" y="4443984"/>
            <a:ext cx="0" cy="347472"/>
          </a:xfrm>
          <a:prstGeom prst="line">
            <a:avLst/>
          </a:prstGeom>
          <a:ln w="25400">
            <a:solidFill>
              <a:srgbClr val="0B5C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21792" y="4791456"/>
            <a:ext cx="1828800" cy="16642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  <a:effectLst>
            <a:outerShdw blurRad="12000" dist="6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1792" y="4864608"/>
            <a:ext cx="41148" cy="1517904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883664" y="5129784"/>
            <a:ext cx="493776" cy="493776"/>
          </a:xfrm>
          <a:prstGeom prst="ellipse">
            <a:avLst/>
          </a:prstGeom>
          <a:solidFill>
            <a:srgbClr val="D6EAFA"/>
          </a:solidFill>
          <a:ln>
            <a:noFill/>
          </a:ln>
          <a:effectLst>
            <a:outerShdw blurRad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44" name="Picture 43" descr="list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1952" y="5148072"/>
            <a:ext cx="457200" cy="4572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31520" y="4937760"/>
            <a:ext cx="122529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1">
                <a:solidFill>
                  <a:srgbClr val="101D30"/>
                </a:solidFill>
                <a:latin typeface="Aptos"/>
              </a:rPr>
              <a:t>List of open items with classification</a:t>
            </a:r>
          </a:p>
          <a:p>
            <a:pPr algn="l">
              <a:lnSpc>
                <a:spcPts val="915"/>
              </a:lnSpc>
              <a:spcBef>
                <a:spcPts val="350"/>
              </a:spcBef>
            </a:pPr>
            <a:r>
              <a:rPr sz="750" b="0">
                <a:solidFill>
                  <a:srgbClr val="5E7794"/>
                </a:solidFill>
                <a:latin typeface="Aptos"/>
              </a:rPr>
              <a:t>Consolidated open delta ready for triage taxonomy.
Maps unreconciled line items into operational resolution tracks.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450592" y="4937760"/>
            <a:ext cx="18288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633472" y="2514600"/>
            <a:ext cx="0" cy="3465576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633472" y="2514600"/>
            <a:ext cx="18288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633472" y="4572000"/>
            <a:ext cx="18288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633472" y="5980176"/>
            <a:ext cx="18288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816352" y="2011680"/>
            <a:ext cx="1627632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2EC"/>
            </a:solidFill>
          </a:ln>
          <a:effectLst>
            <a:outerShdw blurRad="8000" dist="40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816352" y="2084832"/>
            <a:ext cx="41148" cy="859536"/>
          </a:xfrm>
          <a:prstGeom prst="rect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934114" y="2297338"/>
            <a:ext cx="434522" cy="434522"/>
          </a:xfrm>
          <a:prstGeom prst="ellipse">
            <a:avLst/>
          </a:prstGeom>
          <a:solidFill>
            <a:srgbClr val="D6EAFA"/>
          </a:solidFill>
          <a:ln>
            <a:noFill/>
          </a:ln>
          <a:effectLst>
            <a:outerShdw blurRad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54" name="Picture 53" descr="pnf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208" y="2313432"/>
            <a:ext cx="402336" cy="402336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926080" y="2176272"/>
            <a:ext cx="1060704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1">
                <a:solidFill>
                  <a:srgbClr val="101D30"/>
                </a:solidFill>
                <a:latin typeface="Aptos"/>
              </a:rPr>
              <a:t>Posting not found</a:t>
            </a:r>
          </a:p>
          <a:p>
            <a:pPr algn="l">
              <a:lnSpc>
                <a:spcPts val="915"/>
              </a:lnSpc>
              <a:spcBef>
                <a:spcPts val="250"/>
              </a:spcBef>
            </a:pPr>
            <a:r>
              <a:rPr sz="750" b="0">
                <a:solidFill>
                  <a:srgbClr val="5E7794"/>
                </a:solidFill>
                <a:latin typeface="Aptos"/>
              </a:rPr>
              <a:t>Kernel out of scope line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443984" y="2514600"/>
            <a:ext cx="146304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90288" y="1856231"/>
            <a:ext cx="0" cy="1316737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590288" y="1856231"/>
            <a:ext cx="146304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590288" y="3172968"/>
            <a:ext cx="146304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4736592" y="1389888"/>
            <a:ext cx="1353312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3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5599054" y="1648846"/>
            <a:ext cx="414771" cy="414771"/>
          </a:xfrm>
          <a:prstGeom prst="ellipse">
            <a:avLst/>
          </a:prstGeom>
          <a:solidFill>
            <a:srgbClr val="CCF2F4"/>
          </a:solidFill>
          <a:ln>
            <a:noFill/>
          </a:ln>
          <a:effectLst>
            <a:outerShdw blurRad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62" name="Picture 61" descr="idoc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4416" y="1664208"/>
            <a:ext cx="384048" cy="38404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828031" y="1499616"/>
            <a:ext cx="859536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22"/>
              </a:lnSpc>
            </a:pPr>
            <a:r>
              <a:rPr sz="919" b="1">
                <a:solidFill>
                  <a:srgbClr val="101D30"/>
                </a:solidFill>
                <a:latin typeface="Aptos"/>
              </a:rPr>
              <a:t>IDoc / OCR Issue</a:t>
            </a:r>
          </a:p>
          <a:p>
            <a:pPr algn="l">
              <a:lnSpc>
                <a:spcPts val="878"/>
              </a:lnSpc>
              <a:spcBef>
                <a:spcPts val="250"/>
              </a:spcBef>
            </a:pPr>
            <a:r>
              <a:rPr sz="720" b="0">
                <a:solidFill>
                  <a:srgbClr val="5E7794"/>
                </a:solidFill>
                <a:latin typeface="Aptos"/>
              </a:rPr>
              <a:t>Interface syntax failure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089904" y="1856231"/>
            <a:ext cx="237744" cy="0"/>
          </a:xfrm>
          <a:prstGeom prst="line">
            <a:avLst/>
          </a:prstGeom>
          <a:ln w="25400">
            <a:solidFill>
              <a:srgbClr val="008C9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6327648" y="1389888"/>
            <a:ext cx="1737360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A3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6355079" y="1755647"/>
            <a:ext cx="201168" cy="201168"/>
          </a:xfrm>
          <a:prstGeom prst="ellipse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342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›</a:t>
            </a:r>
          </a:p>
        </p:txBody>
      </p:sp>
      <p:sp>
        <p:nvSpPr>
          <p:cNvPr id="67" name="Oval 66"/>
          <p:cNvSpPr/>
          <p:nvPr/>
        </p:nvSpPr>
        <p:spPr>
          <a:xfrm>
            <a:off x="7574158" y="1648846"/>
            <a:ext cx="414771" cy="414771"/>
          </a:xfrm>
          <a:prstGeom prst="ellipse">
            <a:avLst/>
          </a:prstGeom>
          <a:solidFill>
            <a:srgbClr val="CCF2F4"/>
          </a:solidFill>
          <a:ln>
            <a:noFill/>
          </a:ln>
          <a:effectLst>
            <a:outerShdw blurRad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68" name="Picture 67" descr="hwi.gi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0" y="1664208"/>
            <a:ext cx="384048" cy="38404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6601968" y="1499616"/>
            <a:ext cx="1024127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>
                <a:solidFill>
                  <a:srgbClr val="101D30"/>
                </a:solidFill>
                <a:latin typeface="Aptos"/>
              </a:rPr>
              <a:t>Troubleshoot IDoc Using HWI</a:t>
            </a:r>
          </a:p>
          <a:p>
            <a:pPr algn="l">
              <a:lnSpc>
                <a:spcPts val="878"/>
              </a:lnSpc>
              <a:spcBef>
                <a:spcPts val="250"/>
              </a:spcBef>
            </a:pPr>
            <a:r>
              <a:rPr sz="720" b="0">
                <a:solidFill>
                  <a:srgbClr val="5E7794"/>
                </a:solidFill>
                <a:latin typeface="Aptos"/>
              </a:rPr>
              <a:t>Execute SAP Hand Work Instructions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736592" y="2706624"/>
            <a:ext cx="1353312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8D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5599054" y="2965582"/>
            <a:ext cx="414771" cy="414771"/>
          </a:xfrm>
          <a:prstGeom prst="ellipse">
            <a:avLst/>
          </a:prstGeom>
          <a:solidFill>
            <a:srgbClr val="D6EAFA"/>
          </a:solidFill>
          <a:ln>
            <a:noFill/>
          </a:ln>
          <a:effectLst>
            <a:outerShdw blurRad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72" name="Picture 71" descr="no_edi.gi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4416" y="2980944"/>
            <a:ext cx="384048" cy="38404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828031" y="2816352"/>
            <a:ext cx="859536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22"/>
              </a:lnSpc>
            </a:pPr>
            <a:r>
              <a:rPr sz="919" b="1">
                <a:solidFill>
                  <a:srgbClr val="101D30"/>
                </a:solidFill>
                <a:latin typeface="Aptos"/>
              </a:rPr>
              <a:t>No EDI / Non-SAP</a:t>
            </a:r>
          </a:p>
          <a:p>
            <a:pPr algn="l">
              <a:lnSpc>
                <a:spcPts val="878"/>
              </a:lnSpc>
              <a:spcBef>
                <a:spcPts val="250"/>
              </a:spcBef>
            </a:pPr>
            <a:r>
              <a:rPr sz="720" b="0">
                <a:solidFill>
                  <a:srgbClr val="5E7794"/>
                </a:solidFill>
                <a:latin typeface="Aptos"/>
              </a:rPr>
              <a:t>Paper drop / legacy format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089904" y="3172968"/>
            <a:ext cx="237744" cy="0"/>
          </a:xfrm>
          <a:prstGeom prst="line">
            <a:avLst/>
          </a:prstGeom>
          <a:ln w="25400">
            <a:solidFill>
              <a:srgbClr val="0B5C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6327648" y="2706624"/>
            <a:ext cx="1737360" cy="932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8D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6355079" y="3072384"/>
            <a:ext cx="201168" cy="201168"/>
          </a:xfrm>
          <a:prstGeom prst="ellipse">
            <a:avLst/>
          </a:prstGeom>
          <a:solidFill>
            <a:srgbClr val="0B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342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›</a:t>
            </a:r>
          </a:p>
        </p:txBody>
      </p:sp>
      <p:sp>
        <p:nvSpPr>
          <p:cNvPr id="77" name="Oval 76"/>
          <p:cNvSpPr/>
          <p:nvPr/>
        </p:nvSpPr>
        <p:spPr>
          <a:xfrm>
            <a:off x="7574158" y="2965582"/>
            <a:ext cx="414771" cy="414771"/>
          </a:xfrm>
          <a:prstGeom prst="ellipse">
            <a:avLst/>
          </a:prstGeom>
          <a:solidFill>
            <a:srgbClr val="D6EAFA"/>
          </a:solidFill>
          <a:ln>
            <a:noFill/>
          </a:ln>
          <a:effectLst>
            <a:outerShdw blurRad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78" name="Picture 77" descr="inv.gi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89520" y="2980944"/>
            <a:ext cx="384048" cy="38404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601968" y="2816352"/>
            <a:ext cx="1024127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098"/>
              </a:lnSpc>
            </a:pPr>
            <a:r>
              <a:rPr sz="900" b="1">
                <a:solidFill>
                  <a:srgbClr val="101D30"/>
                </a:solidFill>
                <a:latin typeface="Aptos"/>
              </a:rPr>
              <a:t>Request / Retrieve Invoice Copy</a:t>
            </a:r>
          </a:p>
          <a:p>
            <a:pPr algn="l">
              <a:lnSpc>
                <a:spcPts val="878"/>
              </a:lnSpc>
              <a:spcBef>
                <a:spcPts val="250"/>
              </a:spcBef>
            </a:pPr>
            <a:r>
              <a:rPr sz="720" b="0">
                <a:solidFill>
                  <a:srgbClr val="5E7794"/>
                </a:solidFill>
                <a:latin typeface="Aptos"/>
              </a:rPr>
              <a:t>Auto-fetch PDF via OCR matching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816352" y="4078224"/>
            <a:ext cx="1773936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CDFA6"/>
            </a:solidFill>
          </a:ln>
          <a:effectLst>
            <a:outerShdw blurRad="8000" dist="40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816352" y="4151376"/>
            <a:ext cx="41148" cy="8412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4116323" y="4354738"/>
            <a:ext cx="434522" cy="434522"/>
          </a:xfrm>
          <a:prstGeom prst="ellipse">
            <a:avLst/>
          </a:prstGeom>
          <a:solidFill>
            <a:srgbClr val="FDF0D0"/>
          </a:solidFill>
          <a:ln>
            <a:noFill/>
          </a:ln>
          <a:effectLst>
            <a:outerShdw blurRad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83" name="Picture 82" descr="ap_ar.gi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2416" y="4370832"/>
            <a:ext cx="402336" cy="402336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2926080" y="4242816"/>
            <a:ext cx="1188719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1">
                <a:solidFill>
                  <a:srgbClr val="101D30"/>
                </a:solidFill>
                <a:latin typeface="Aptos"/>
              </a:rPr>
              <a:t>Investigate AP-AR sign issue</a:t>
            </a:r>
          </a:p>
          <a:p>
            <a:pPr algn="l">
              <a:lnSpc>
                <a:spcPts val="915"/>
              </a:lnSpc>
              <a:spcBef>
                <a:spcPts val="300"/>
              </a:spcBef>
            </a:pPr>
            <a:r>
              <a:rPr sz="750" b="0">
                <a:solidFill>
                  <a:srgbClr val="5E7794"/>
                </a:solidFill>
                <a:latin typeface="Aptos"/>
              </a:rPr>
              <a:t>AR cleared, AP remains open (+/−)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590288" y="4572000"/>
            <a:ext cx="329184" cy="0"/>
          </a:xfrm>
          <a:prstGeom prst="line">
            <a:avLst/>
          </a:prstGeom>
          <a:ln w="2540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4919472" y="4078224"/>
            <a:ext cx="2267712" cy="9875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CD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4946903" y="4471416"/>
            <a:ext cx="201168" cy="20116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342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›</a:t>
            </a:r>
          </a:p>
        </p:txBody>
      </p:sp>
      <p:sp>
        <p:nvSpPr>
          <p:cNvPr id="88" name="Oval 87"/>
          <p:cNvSpPr/>
          <p:nvPr/>
        </p:nvSpPr>
        <p:spPr>
          <a:xfrm>
            <a:off x="6730655" y="4358966"/>
            <a:ext cx="434522" cy="434522"/>
          </a:xfrm>
          <a:prstGeom prst="ellipse">
            <a:avLst/>
          </a:prstGeom>
          <a:solidFill>
            <a:srgbClr val="FDF0D0"/>
          </a:solidFill>
          <a:ln>
            <a:noFill/>
          </a:ln>
          <a:effectLst>
            <a:outerShdw blurRad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89" name="Picture 88" descr="review.gi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46748" y="4375060"/>
            <a:ext cx="402336" cy="402336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5193792" y="4242816"/>
            <a:ext cx="1536192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71"/>
              </a:lnSpc>
            </a:pPr>
            <a:r>
              <a:rPr sz="960" b="1">
                <a:solidFill>
                  <a:srgbClr val="101D30"/>
                </a:solidFill>
                <a:latin typeface="Aptos"/>
              </a:rPr>
              <a:t>Review &amp; Analyze Issue</a:t>
            </a:r>
          </a:p>
          <a:p>
            <a:pPr algn="l">
              <a:lnSpc>
                <a:spcPts val="902"/>
              </a:lnSpc>
              <a:spcBef>
                <a:spcPts val="300"/>
              </a:spcBef>
            </a:pPr>
            <a:r>
              <a:rPr sz="740" b="0">
                <a:solidFill>
                  <a:srgbClr val="5E7794"/>
                </a:solidFill>
                <a:latin typeface="Aptos"/>
              </a:rPr>
              <a:t>Investigate discrepancy; post clearing journal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816352" y="5486400"/>
            <a:ext cx="1773936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7B6D7"/>
            </a:solidFill>
          </a:ln>
          <a:effectLst>
            <a:outerShdw blurRad="8000" dist="4000" dir="5400000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2816352" y="5559552"/>
            <a:ext cx="41148" cy="841248"/>
          </a:xfrm>
          <a:prstGeom prst="rect">
            <a:avLst/>
          </a:prstGeom>
          <a:solidFill>
            <a:srgbClr val="D946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4080418" y="5762914"/>
            <a:ext cx="434522" cy="434522"/>
          </a:xfrm>
          <a:prstGeom prst="ellipse">
            <a:avLst/>
          </a:prstGeom>
          <a:solidFill>
            <a:srgbClr val="FBD4E7"/>
          </a:solidFill>
          <a:ln>
            <a:noFill/>
          </a:ln>
          <a:effectLst>
            <a:outerShdw blurRad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94" name="Picture 93" descr="cash.gif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6511" y="5779008"/>
            <a:ext cx="402336" cy="402336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2926080" y="5650992"/>
            <a:ext cx="1188719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220"/>
              </a:lnSpc>
            </a:pPr>
            <a:r>
              <a:rPr sz="1000" b="1">
                <a:solidFill>
                  <a:srgbClr val="101D30"/>
                </a:solidFill>
                <a:latin typeface="Aptos"/>
              </a:rPr>
              <a:t>Cash to allocated / AP paid</a:t>
            </a:r>
          </a:p>
          <a:p>
            <a:pPr algn="l">
              <a:lnSpc>
                <a:spcPts val="915"/>
              </a:lnSpc>
              <a:spcBef>
                <a:spcPts val="300"/>
              </a:spcBef>
            </a:pPr>
            <a:r>
              <a:rPr sz="750" b="0">
                <a:solidFill>
                  <a:srgbClr val="5E7794"/>
                </a:solidFill>
                <a:latin typeface="Aptos"/>
              </a:rPr>
              <a:t>AR unapplied in reciprocal ERP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590288" y="5980176"/>
            <a:ext cx="329184" cy="0"/>
          </a:xfrm>
          <a:prstGeom prst="line">
            <a:avLst/>
          </a:prstGeom>
          <a:ln w="25400">
            <a:solidFill>
              <a:srgbClr val="D946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4919472" y="5486400"/>
            <a:ext cx="2267712" cy="9875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7B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4946903" y="5879592"/>
            <a:ext cx="201168" cy="201168"/>
          </a:xfrm>
          <a:prstGeom prst="ellipse">
            <a:avLst/>
          </a:prstGeom>
          <a:solidFill>
            <a:srgbClr val="D946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342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›</a:t>
            </a:r>
          </a:p>
        </p:txBody>
      </p:sp>
      <p:sp>
        <p:nvSpPr>
          <p:cNvPr id="99" name="Oval 98"/>
          <p:cNvSpPr/>
          <p:nvPr/>
        </p:nvSpPr>
        <p:spPr>
          <a:xfrm>
            <a:off x="6677314" y="5762914"/>
            <a:ext cx="434522" cy="434522"/>
          </a:xfrm>
          <a:prstGeom prst="ellipse">
            <a:avLst/>
          </a:prstGeom>
          <a:solidFill>
            <a:srgbClr val="FBD4E7"/>
          </a:solidFill>
          <a:ln>
            <a:noFill/>
          </a:ln>
          <a:effectLst>
            <a:outerShdw blurRad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00" name="Picture 99" descr="waiting.gif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93407" y="5779008"/>
            <a:ext cx="402336" cy="402336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5193792" y="5650992"/>
            <a:ext cx="1536192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171"/>
              </a:lnSpc>
            </a:pPr>
            <a:r>
              <a:rPr sz="960" b="1">
                <a:solidFill>
                  <a:srgbClr val="101D30"/>
                </a:solidFill>
                <a:latin typeface="Aptos"/>
              </a:rPr>
              <a:t>Waiting for Counterparty Action (Clearing)</a:t>
            </a:r>
          </a:p>
          <a:p>
            <a:pPr algn="l">
              <a:lnSpc>
                <a:spcPts val="902"/>
              </a:lnSpc>
              <a:spcBef>
                <a:spcPts val="300"/>
              </a:spcBef>
            </a:pPr>
            <a:r>
              <a:rPr sz="740" b="0">
                <a:solidFill>
                  <a:srgbClr val="5E7794"/>
                </a:solidFill>
                <a:latin typeface="Aptos"/>
              </a:rPr>
              <a:t>Pending reciprocal entity ledger clearing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7187183" y="4572000"/>
            <a:ext cx="877825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187183" y="5980176"/>
            <a:ext cx="877825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065008" y="1856231"/>
            <a:ext cx="18288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065008" y="3172968"/>
            <a:ext cx="18288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8065008" y="4572000"/>
            <a:ext cx="18288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065008" y="5980176"/>
            <a:ext cx="182880" cy="0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247888" y="1856231"/>
            <a:ext cx="0" cy="4123945"/>
          </a:xfrm>
          <a:prstGeom prst="line">
            <a:avLst/>
          </a:prstGeom>
          <a:ln w="2540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247888" y="1938528"/>
            <a:ext cx="237744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8485632" y="1389888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DECF4"/>
          </a:solidFill>
          <a:ln w="9525">
            <a:solidFill>
              <a:srgbClr val="F7B6D7"/>
            </a:solidFill>
          </a:ln>
          <a:effectLst>
            <a:outerShdw blurRad="10000" dist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8613648" y="1499616"/>
            <a:ext cx="877824" cy="201168"/>
          </a:xfrm>
          <a:prstGeom prst="roundRect">
            <a:avLst>
              <a:gd name="adj" fmla="val 3000"/>
            </a:avLst>
          </a:prstGeom>
          <a:solidFill>
            <a:srgbClr val="D946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>
              <a:lnSpc>
                <a:spcPts val="853"/>
              </a:lnSpc>
            </a:pPr>
            <a:r>
              <a:rPr sz="700" b="1">
                <a:solidFill>
                  <a:srgbClr val="FFFFFF"/>
                </a:solidFill>
                <a:latin typeface="Aptos"/>
              </a:rPr>
              <a:t>GAP DETECTED</a:t>
            </a:r>
          </a:p>
        </p:txBody>
      </p:sp>
      <p:sp>
        <p:nvSpPr>
          <p:cNvPr id="112" name="Oval 111"/>
          <p:cNvSpPr/>
          <p:nvPr/>
        </p:nvSpPr>
        <p:spPr>
          <a:xfrm>
            <a:off x="11073384" y="1691640"/>
            <a:ext cx="493776" cy="493776"/>
          </a:xfrm>
          <a:prstGeom prst="ellipse">
            <a:avLst/>
          </a:prstGeom>
          <a:solidFill>
            <a:srgbClr val="FBD4E7"/>
          </a:solidFill>
          <a:ln>
            <a:noFill/>
          </a:ln>
          <a:effectLst>
            <a:outerShdw blurRad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13" name="Picture 112" descr="gap.gi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91672" y="1709928"/>
            <a:ext cx="457200" cy="457200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8613648" y="1792224"/>
            <a:ext cx="245973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317"/>
              </a:lnSpc>
            </a:pPr>
            <a:r>
              <a:rPr sz="1080" b="1">
                <a:solidFill>
                  <a:srgbClr val="101D30"/>
                </a:solidFill>
                <a:latin typeface="Aptos"/>
              </a:rPr>
              <a:t>Reconciliation Discrepancy</a:t>
            </a:r>
          </a:p>
          <a:p>
            <a:pPr algn="l">
              <a:lnSpc>
                <a:spcPts val="951"/>
              </a:lnSpc>
              <a:spcBef>
                <a:spcPts val="300"/>
              </a:spcBef>
            </a:pPr>
            <a:r>
              <a:rPr sz="780" b="0">
                <a:solidFill>
                  <a:srgbClr val="5E7794"/>
                </a:solidFill>
                <a:latin typeface="Aptos"/>
              </a:rPr>
              <a:t>Open-item delta isolated between reciprocal Philips entities.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0062972" y="2487168"/>
            <a:ext cx="0" cy="402336"/>
          </a:xfrm>
          <a:prstGeom prst="line">
            <a:avLst/>
          </a:prstGeom>
          <a:ln w="25400">
            <a:solidFill>
              <a:srgbClr val="D9468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115"/>
          <p:cNvSpPr/>
          <p:nvPr/>
        </p:nvSpPr>
        <p:spPr>
          <a:xfrm>
            <a:off x="8485632" y="2889504"/>
            <a:ext cx="3154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7B6D7"/>
            </a:solidFill>
          </a:ln>
          <a:effectLst>
            <a:outerShdw blurRad="10000" dist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8613648" y="2999232"/>
            <a:ext cx="1280160" cy="201168"/>
          </a:xfrm>
          <a:prstGeom prst="roundRect">
            <a:avLst>
              <a:gd name="adj" fmla="val 3000"/>
            </a:avLst>
          </a:prstGeom>
          <a:solidFill>
            <a:srgbClr val="D946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>
              <a:lnSpc>
                <a:spcPts val="853"/>
              </a:lnSpc>
            </a:pPr>
            <a:r>
              <a:rPr sz="700" b="1">
                <a:solidFill>
                  <a:srgbClr val="FFFFFF"/>
                </a:solidFill>
                <a:latin typeface="Aptos"/>
              </a:rPr>
              <a:t>ACTION NOTIFICATION</a:t>
            </a:r>
          </a:p>
        </p:txBody>
      </p:sp>
      <p:sp>
        <p:nvSpPr>
          <p:cNvPr id="118" name="Oval 117"/>
          <p:cNvSpPr/>
          <p:nvPr/>
        </p:nvSpPr>
        <p:spPr>
          <a:xfrm>
            <a:off x="11073384" y="3191256"/>
            <a:ext cx="493776" cy="493776"/>
          </a:xfrm>
          <a:prstGeom prst="ellipse">
            <a:avLst/>
          </a:prstGeom>
          <a:solidFill>
            <a:srgbClr val="FBD4E7"/>
          </a:solidFill>
          <a:ln>
            <a:noFill/>
          </a:ln>
          <a:effectLst>
            <a:outerShdw blurRad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19" name="Picture 118" descr="notif.gif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91672" y="3209544"/>
            <a:ext cx="457200" cy="457200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8613648" y="3291840"/>
            <a:ext cx="245973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317"/>
              </a:lnSpc>
            </a:pPr>
            <a:r>
              <a:rPr sz="1080" b="1">
                <a:solidFill>
                  <a:srgbClr val="101D30"/>
                </a:solidFill>
                <a:latin typeface="Aptos"/>
              </a:rPr>
              <a:t>Send Action Notification (Email)</a:t>
            </a:r>
          </a:p>
          <a:p>
            <a:pPr algn="l">
              <a:lnSpc>
                <a:spcPts val="951"/>
              </a:lnSpc>
              <a:spcBef>
                <a:spcPts val="300"/>
              </a:spcBef>
            </a:pPr>
            <a:r>
              <a:rPr sz="780" b="0">
                <a:solidFill>
                  <a:srgbClr val="5E7794"/>
                </a:solidFill>
                <a:latin typeface="Aptos"/>
              </a:rPr>
              <a:t>Structured notice sent to counterparty accounting lead.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0062972" y="3986784"/>
            <a:ext cx="0" cy="402336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ounded Rectangle 121"/>
          <p:cNvSpPr/>
          <p:nvPr/>
        </p:nvSpPr>
        <p:spPr>
          <a:xfrm>
            <a:off x="8485632" y="4389120"/>
            <a:ext cx="3154680" cy="2084831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9525">
            <a:solidFill>
              <a:srgbClr val="FEC8C8"/>
            </a:solidFill>
          </a:ln>
          <a:effectLst>
            <a:outerShdw blurRad="14000" dist="7000" dir="5400000" rotWithShape="0">
              <a:srgbClr val="000000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/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8613648" y="4517136"/>
            <a:ext cx="1316736" cy="201168"/>
          </a:xfrm>
          <a:prstGeom prst="roundRect">
            <a:avLst>
              <a:gd name="adj" fmla="val 3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54864" bIns="73152" rtlCol="0" anchor="ctr"/>
          <a:lstStyle/>
          <a:p>
            <a:pPr algn="ctr">
              <a:lnSpc>
                <a:spcPts val="853"/>
              </a:lnSpc>
            </a:pPr>
            <a:r>
              <a:rPr sz="700" b="1">
                <a:solidFill>
                  <a:srgbClr val="FFFFFF"/>
                </a:solidFill>
                <a:latin typeface="Aptos"/>
              </a:rPr>
              <a:t>MULTI-TIER ESCALATION</a:t>
            </a:r>
          </a:p>
        </p:txBody>
      </p:sp>
      <p:sp>
        <p:nvSpPr>
          <p:cNvPr id="124" name="Oval 123"/>
          <p:cNvSpPr/>
          <p:nvPr/>
        </p:nvSpPr>
        <p:spPr>
          <a:xfrm>
            <a:off x="11054364" y="5174772"/>
            <a:ext cx="513527" cy="513527"/>
          </a:xfrm>
          <a:prstGeom prst="ellipse">
            <a:avLst/>
          </a:prstGeom>
          <a:solidFill>
            <a:srgbClr val="FEDBDB"/>
          </a:solidFill>
          <a:ln>
            <a:noFill/>
          </a:ln>
          <a:effectLst>
            <a:outerShdw blurRad="5000" dir="5400000" rotWithShape="0">
              <a:srgbClr val="000000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pic>
        <p:nvPicPr>
          <p:cNvPr id="125" name="Picture 124" descr="esc.gif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73384" y="5193792"/>
            <a:ext cx="475488" cy="475488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8613648" y="4809744"/>
            <a:ext cx="2459736" cy="1591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244"/>
              </a:lnSpc>
            </a:pPr>
            <a:r>
              <a:rPr sz="1019" b="1">
                <a:solidFill>
                  <a:srgbClr val="DC2626"/>
                </a:solidFill>
                <a:latin typeface="Aptos"/>
              </a:rPr>
              <a:t>No Response → Initiate Escalation (Matrix)</a:t>
            </a:r>
          </a:p>
          <a:p>
            <a:pPr>
              <a:lnSpc>
                <a:spcPts val="1150"/>
              </a:lnSpc>
              <a:spcBef>
                <a:spcPts val="500"/>
              </a:spcBef>
            </a:pPr>
            <a:r>
              <a:rPr sz="780" b="1">
                <a:solidFill>
                  <a:srgbClr val="DC2626"/>
                </a:solidFill>
                <a:latin typeface="Aptos"/>
              </a:rPr>
              <a:t>L1 </a:t>
            </a:r>
            <a:r>
              <a:rPr sz="780" b="1">
                <a:solidFill>
                  <a:srgbClr val="101D30"/>
                </a:solidFill>
                <a:latin typeface="Aptos"/>
              </a:rPr>
              <a:t>(48h Inaction): </a:t>
            </a:r>
            <a:r>
              <a:rPr sz="780" b="1">
                <a:solidFill>
                  <a:srgbClr val="2D3F55"/>
                </a:solidFill>
                <a:latin typeface="Aptos"/>
              </a:rPr>
              <a:t>Accounting Lead / Processor
</a:t>
            </a:r>
            <a:r>
              <a:rPr sz="700">
                <a:solidFill>
                  <a:srgbClr val="5E7794"/>
                </a:solidFill>
                <a:latin typeface="Aptos"/>
              </a:rPr>
              <a:t>    Initial SLA alert; re-verify unmatched ledger delta.</a:t>
            </a:r>
          </a:p>
          <a:p>
            <a:pPr>
              <a:lnSpc>
                <a:spcPts val="1150"/>
              </a:lnSpc>
              <a:spcBef>
                <a:spcPts val="500"/>
              </a:spcBef>
            </a:pPr>
            <a:r>
              <a:rPr sz="780" b="1">
                <a:solidFill>
                  <a:srgbClr val="DC2626"/>
                </a:solidFill>
                <a:latin typeface="Aptos"/>
              </a:rPr>
              <a:t>L2 </a:t>
            </a:r>
            <a:r>
              <a:rPr sz="780" b="1">
                <a:solidFill>
                  <a:srgbClr val="101D30"/>
                </a:solidFill>
                <a:latin typeface="Aptos"/>
              </a:rPr>
              <a:t>(96h Inaction): </a:t>
            </a:r>
            <a:r>
              <a:rPr sz="780" b="1">
                <a:solidFill>
                  <a:srgbClr val="2D3F55"/>
                </a:solidFill>
                <a:latin typeface="Aptos"/>
              </a:rPr>
              <a:t>FSS Shared Services Manager
</a:t>
            </a:r>
            <a:r>
              <a:rPr sz="700">
                <a:solidFill>
                  <a:srgbClr val="5E7794"/>
                </a:solidFill>
                <a:latin typeface="Aptos"/>
              </a:rPr>
              <a:t>    Shared services escalation; bilateral review call.</a:t>
            </a:r>
          </a:p>
          <a:p>
            <a:pPr>
              <a:lnSpc>
                <a:spcPts val="1150"/>
              </a:lnSpc>
              <a:spcBef>
                <a:spcPts val="500"/>
              </a:spcBef>
            </a:pPr>
            <a:r>
              <a:rPr sz="780" b="1">
                <a:solidFill>
                  <a:srgbClr val="DC2626"/>
                </a:solidFill>
                <a:latin typeface="Aptos"/>
              </a:rPr>
              <a:t>L3 </a:t>
            </a:r>
            <a:r>
              <a:rPr sz="780" b="1">
                <a:solidFill>
                  <a:srgbClr val="101D30"/>
                </a:solidFill>
                <a:latin typeface="Aptos"/>
              </a:rPr>
              <a:t>(&gt;5d / Close): </a:t>
            </a:r>
            <a:r>
              <a:rPr sz="780" b="1">
                <a:solidFill>
                  <a:srgbClr val="2D3F55"/>
                </a:solidFill>
                <a:latin typeface="Aptos"/>
              </a:rPr>
              <a:t>Entity Finance Director
</a:t>
            </a:r>
            <a:r>
              <a:rPr sz="700">
                <a:solidFill>
                  <a:srgbClr val="5E7794"/>
                </a:solidFill>
                <a:latin typeface="Aptos"/>
              </a:rPr>
              <a:t>    Executive sign-off; post un-cleared accrual &amp; audit note.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"/>
                            </p:stCondLst>
                            <p:childTnLst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5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80"/>
                            </p:stCondLst>
                            <p:childTnLst>
                              <p:par>
                                <p:cTn id="2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"/>
                            </p:stCondLst>
                            <p:childTnLst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40"/>
                            </p:stCondLst>
                            <p:childTnLst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"/>
                            </p:stCondLst>
                            <p:childTnLst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30"/>
                            </p:stCondLst>
                            <p:childTnLst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8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90"/>
                            </p:stCondLst>
                            <p:childTnLst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50"/>
                            </p:stCondLst>
                            <p:childTnLst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8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80"/>
                            </p:stCondLst>
                            <p:childTnLst>
                              <p:par>
                                <p:cTn id="6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0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940"/>
                            </p:stCondLst>
                            <p:childTnLst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8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30"/>
                            </p:stCondLst>
                            <p:childTnLst>
                              <p:par>
                                <p:cTn id="7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50"/>
                            </p:stCondLst>
                            <p:childTnLst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8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8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0"/>
                            </p:stCondLst>
                            <p:childTnLst>
                              <p:par>
                                <p:cTn id="9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20"/>
                            </p:stCondLst>
                            <p:childTnLst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8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40"/>
                            </p:stCondLst>
                            <p:childTnLst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8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50"/>
                            </p:stCondLst>
                            <p:childTnLst>
                              <p:par>
                                <p:cTn id="10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70"/>
                            </p:stCondLst>
                            <p:childTnLst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8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00"/>
                            </p:stCondLst>
                            <p:childTnLst>
                              <p:par>
                                <p:cTn id="1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40"/>
                            </p:stCondLst>
                            <p:childTnLst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8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55"/>
                            </p:stCondLst>
                            <p:childTnLst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8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65"/>
                            </p:stCondLst>
                            <p:childTnLst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8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75"/>
                            </p:stCondLst>
                            <p:childTnLst>
                              <p:par>
                                <p:cTn id="12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95"/>
                            </p:stCondLst>
                            <p:childTnLst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8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30"/>
                            </p:stCondLst>
                            <p:childTnLst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60"/>
                            </p:stCondLst>
                            <p:childTnLst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8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370"/>
                            </p:stCondLst>
                            <p:childTnLst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8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380"/>
                            </p:stCondLst>
                            <p:childTnLst>
                              <p:par>
                                <p:cTn id="14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395"/>
                            </p:stCondLst>
                            <p:childTnLst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8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20"/>
                            </p:stCondLst>
                            <p:childTnLst>
                              <p:par>
                                <p:cTn id="1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450"/>
                            </p:stCondLst>
                            <p:childTnLst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8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460"/>
                            </p:stCondLst>
                            <p:childTnLst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8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70"/>
                            </p:stCondLst>
                            <p:childTnLst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8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480"/>
                            </p:stCondLst>
                            <p:childTnLst>
                              <p:par>
                                <p:cTn id="17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8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80"/>
                            </p:stCondLst>
                            <p:childTnLst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8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20"/>
                            </p:stCondLst>
                            <p:childTnLst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40"/>
                            </p:stCondLst>
                            <p:childTnLst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60"/>
                            </p:stCondLst>
                            <p:childTnLst>
                              <p:par>
                                <p:cTn id="1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00"/>
                            </p:stCondLst>
                            <p:childTnLst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8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210"/>
                            </p:stCondLst>
                            <p:childTnLst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8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220"/>
                            </p:stCondLst>
                            <p:childTnLst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8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230"/>
                            </p:stCondLst>
                            <p:childTnLst>
                              <p:par>
                                <p:cTn id="21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6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250"/>
                            </p:stCondLst>
                            <p:childTnLst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8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40"/>
                            </p:stCondLst>
                            <p:childTnLst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8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70"/>
                            </p:stCondLst>
                            <p:childTnLst>
                              <p:par>
                                <p:cTn id="2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90"/>
                            </p:stCondLst>
                            <p:childTnLst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120"/>
                            </p:stCondLst>
                            <p:childTnLst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8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130"/>
                            </p:stCondLst>
                            <p:childTnLst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8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140"/>
                            </p:stCondLst>
                            <p:childTnLst>
                              <p:par>
                                <p:cTn id="24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6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150"/>
                            </p:stCondLst>
                            <p:childTnLst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8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170"/>
                            </p:stCondLst>
                            <p:childTnLst>
                              <p:par>
                                <p:cTn id="2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190"/>
                            </p:stCondLst>
                            <p:childTnLst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8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200"/>
                            </p:stCondLst>
                            <p:childTnLst>
                              <p:par>
                                <p:cTn id="26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210"/>
                            </p:stCondLst>
                            <p:childTnLst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8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220"/>
                            </p:stCondLst>
                            <p:childTnLst>
                              <p:par>
                                <p:cTn id="26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6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230"/>
                            </p:stCondLst>
                            <p:childTnLst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8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260"/>
                            </p:stCondLst>
                            <p:childTnLst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8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270"/>
                            </p:stCondLst>
                            <p:childTnLst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8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280"/>
                            </p:stCondLst>
                            <p:childTnLst>
                              <p:par>
                                <p:cTn id="28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6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290"/>
                            </p:stCondLst>
                            <p:childTnLst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8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310"/>
                            </p:stCondLst>
                            <p:childTnLst>
                              <p:par>
                                <p:cTn id="2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330"/>
                            </p:stCondLst>
                            <p:childTnLst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8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340"/>
                            </p:stCondLst>
                            <p:childTnLst>
                              <p:par>
                                <p:cTn id="30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350"/>
                            </p:stCondLst>
                            <p:childTnLst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8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360"/>
                            </p:stCondLst>
                            <p:childTnLst>
                              <p:par>
                                <p:cTn id="30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6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370"/>
                            </p:stCondLst>
                            <p:childTnLst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8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400"/>
                            </p:stCondLst>
                            <p:childTnLst>
                              <p:par>
                                <p:cTn id="3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8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410"/>
                            </p:stCondLst>
                            <p:childTnLst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8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420"/>
                            </p:stCondLst>
                            <p:childTnLst>
                              <p:par>
                                <p:cTn id="3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8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430"/>
                            </p:stCondLst>
                            <p:childTnLst>
                              <p:par>
                                <p:cTn id="32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6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440"/>
                            </p:stCondLst>
                            <p:childTnLst>
                              <p:par>
                                <p:cTn id="3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8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460"/>
                            </p:stCondLst>
                            <p:childTnLst>
                              <p:par>
                                <p:cTn id="3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8"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480"/>
                            </p:stCondLst>
                            <p:childTnLst>
                              <p:par>
                                <p:cTn id="3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8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490"/>
                            </p:stCondLst>
                            <p:childTnLst>
                              <p:par>
                                <p:cTn id="34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500"/>
                            </p:stCondLst>
                            <p:childTnLst>
                              <p:par>
                                <p:cTn id="3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8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510"/>
                            </p:stCondLst>
                            <p:childTnLst>
                              <p:par>
                                <p:cTn id="35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6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20"/>
                            </p:stCondLst>
                            <p:childTnLst>
                              <p:par>
                                <p:cTn id="3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8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50"/>
                            </p:stCondLst>
                            <p:childTnLst>
                              <p:par>
                                <p:cTn id="3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8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560"/>
                            </p:stCondLst>
                            <p:childTnLst>
                              <p:par>
                                <p:cTn id="3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8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570"/>
                            </p:stCondLst>
                            <p:childTnLst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8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580"/>
                            </p:stCondLst>
                            <p:childTnLst>
                              <p:par>
                                <p:cTn id="37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6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590"/>
                            </p:stCondLst>
                            <p:childTnLst>
                              <p:par>
                                <p:cTn id="3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8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610"/>
                            </p:stCondLst>
                            <p:childTnLst>
                              <p:par>
                                <p:cTn id="3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2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630"/>
                            </p:stCondLst>
                            <p:childTnLst>
                              <p:par>
                                <p:cTn id="3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6" dur="8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7" fill="hold">
                            <p:stCondLst>
                              <p:cond delay="640"/>
                            </p:stCondLst>
                            <p:childTnLst>
                              <p:par>
                                <p:cTn id="38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0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1" fill="hold">
                            <p:stCondLst>
                              <p:cond delay="650"/>
                            </p:stCondLst>
                            <p:childTnLst>
                              <p:par>
                                <p:cTn id="3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8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660"/>
                            </p:stCondLst>
                            <p:childTnLst>
                              <p:par>
                                <p:cTn id="39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6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>
                            <p:stCondLst>
                              <p:cond delay="670"/>
                            </p:stCondLst>
                            <p:childTnLst>
                              <p:par>
                                <p:cTn id="4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2" dur="8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7" dur="7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>
                            <p:stCondLst>
                              <p:cond delay="20"/>
                            </p:stCondLst>
                            <p:childTnLst>
                              <p:par>
                                <p:cTn id="4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1" dur="7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fill="hold">
                            <p:stCondLst>
                              <p:cond delay="40"/>
                            </p:stCondLst>
                            <p:childTnLst>
                              <p:par>
                                <p:cTn id="4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5" dur="7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6" fill="hold">
                            <p:stCondLst>
                              <p:cond delay="60"/>
                            </p:stCondLst>
                            <p:childTnLst>
                              <p:par>
                                <p:cTn id="4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9" dur="7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>
                            <p:stCondLst>
                              <p:cond delay="80"/>
                            </p:stCondLst>
                            <p:childTnLst>
                              <p:par>
                                <p:cTn id="4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3" dur="7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100"/>
                            </p:stCondLst>
                            <p:childTnLst>
                              <p:par>
                                <p:cTn id="4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7" dur="7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120"/>
                            </p:stCondLst>
                            <p:childTnLst>
                              <p:par>
                                <p:cTn id="4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8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2" fill="hold">
                            <p:stCondLst>
                              <p:cond delay="160"/>
                            </p:stCondLst>
                            <p:childTnLst>
                              <p:par>
                                <p:cTn id="4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5" dur="7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6" fill="hold">
                            <p:stCondLst>
                              <p:cond delay="200"/>
                            </p:stCondLst>
                            <p:childTnLst>
                              <p:par>
                                <p:cTn id="4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8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220"/>
                            </p:stCondLst>
                            <p:childTnLst>
                              <p:par>
                                <p:cTn id="4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8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" fill="hold">
                            <p:stCondLst>
                              <p:cond delay="230"/>
                            </p:stCondLst>
                            <p:childTnLst>
                              <p:par>
                                <p:cTn id="4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8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240"/>
                            </p:stCondLst>
                            <p:childTnLst>
                              <p:par>
                                <p:cTn id="44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6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2" fill="hold">
                            <p:stCondLst>
                              <p:cond delay="260"/>
                            </p:stCondLst>
                            <p:childTnLst>
                              <p:par>
                                <p:cTn id="4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8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6" fill="hold">
                            <p:stCondLst>
                              <p:cond delay="310"/>
                            </p:stCondLst>
                            <p:childTnLst>
                              <p:par>
                                <p:cTn id="4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9" dur="7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fill="hold">
                            <p:stCondLst>
                              <p:cond delay="360"/>
                            </p:stCondLst>
                            <p:childTnLst>
                              <p:par>
                                <p:cTn id="4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8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4" fill="hold">
                            <p:stCondLst>
                              <p:cond delay="380"/>
                            </p:stCondLst>
                            <p:childTnLst>
                              <p:par>
                                <p:cTn id="4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8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8" fill="hold">
                            <p:stCondLst>
                              <p:cond delay="390"/>
                            </p:stCondLst>
                            <p:childTnLst>
                              <p:par>
                                <p:cTn id="4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8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2" fill="hold">
                            <p:stCondLst>
                              <p:cond delay="400"/>
                            </p:stCondLst>
                            <p:childTnLst>
                              <p:par>
                                <p:cTn id="47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6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6" fill="hold">
                            <p:stCondLst>
                              <p:cond delay="420"/>
                            </p:stCondLst>
                            <p:childTnLst>
                              <p:par>
                                <p:cTn id="4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9" dur="8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470"/>
                            </p:stCondLst>
                            <p:childTnLst>
                              <p:par>
                                <p:cTn id="4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3" dur="7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520"/>
                            </p:stCondLst>
                            <p:childTnLst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8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540"/>
                            </p:stCondLst>
                            <p:childTnLst>
                              <p:par>
                                <p:cTn id="4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1" dur="8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2" fill="hold">
                            <p:stCondLst>
                              <p:cond delay="550"/>
                            </p:stCondLst>
                            <p:childTnLst>
                              <p:par>
                                <p:cTn id="4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8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6" fill="hold">
                            <p:stCondLst>
                              <p:cond delay="560"/>
                            </p:stCondLst>
                            <p:childTnLst>
                              <p:par>
                                <p:cTn id="49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6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0" fill="hold">
                            <p:stCondLst>
                              <p:cond delay="580"/>
                            </p:stCondLst>
                            <p:childTnLst>
                              <p:par>
                                <p:cTn id="5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3" dur="8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6" grpId="0" animBg="1"/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 animBg="1"/>
      <p:bldP spid="14" grpId="0"/>
      <p:bldP spid="15" grpId="0" animBg="1"/>
      <p:bldP spid="16" grpId="0" animBg="1"/>
      <p:bldP spid="17" grpId="0" animBg="1"/>
      <p:bldP spid="18" grpId="0"/>
      <p:bldP spid="19" grpId="0" animBg="1"/>
      <p:bldP spid="20" grpId="0" animBg="1"/>
      <p:bldP spid="21" grpId="0" animBg="1"/>
      <p:bldP spid="22" grpId="0"/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 animBg="1"/>
      <p:bldP spid="30" grpId="0" animBg="1"/>
      <p:bldP spid="31" grpId="0" animBg="1"/>
      <p:bldP spid="32" grpId="0" animBg="1"/>
      <p:bldP spid="33" grpId="0"/>
      <p:bldP spid="34" grpId="0"/>
      <p:bldP spid="35" grpId="0" animBg="1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 animBg="1"/>
      <p:bldP spid="43" grpId="0" animBg="1"/>
      <p:bldP spid="44" grpId="0"/>
      <p:bldP spid="45" grpId="0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/>
      <p:bldP spid="55" grpId="0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/>
      <p:bldP spid="63" grpId="0"/>
      <p:bldP spid="64" grpId="0" animBg="1"/>
      <p:bldP spid="65" grpId="0" animBg="1"/>
      <p:bldP spid="66" grpId="0" animBg="1"/>
      <p:bldP spid="67" grpId="0" animBg="1"/>
      <p:bldP spid="68" grpId="0"/>
      <p:bldP spid="69" grpId="0"/>
      <p:bldP spid="70" grpId="0" animBg="1"/>
      <p:bldP spid="71" grpId="0" animBg="1"/>
      <p:bldP spid="72" grpId="0"/>
      <p:bldP spid="73" grpId="0"/>
      <p:bldP spid="74" grpId="0" animBg="1"/>
      <p:bldP spid="75" grpId="0" animBg="1"/>
      <p:bldP spid="76" grpId="0" animBg="1"/>
      <p:bldP spid="77" grpId="0" animBg="1"/>
      <p:bldP spid="78" grpId="0"/>
      <p:bldP spid="79" grpId="0"/>
      <p:bldP spid="80" grpId="0" animBg="1"/>
      <p:bldP spid="81" grpId="0" animBg="1"/>
      <p:bldP spid="82" grpId="0" animBg="1"/>
      <p:bldP spid="83" grpId="0"/>
      <p:bldP spid="84" grpId="0"/>
      <p:bldP spid="85" grpId="0" animBg="1"/>
      <p:bldP spid="86" grpId="0" animBg="1"/>
      <p:bldP spid="87" grpId="0" animBg="1"/>
      <p:bldP spid="88" grpId="0" animBg="1"/>
      <p:bldP spid="89" grpId="0"/>
      <p:bldP spid="90" grpId="0"/>
      <p:bldP spid="91" grpId="0" animBg="1"/>
      <p:bldP spid="92" grpId="0" animBg="1"/>
      <p:bldP spid="93" grpId="0" animBg="1"/>
      <p:bldP spid="94" grpId="0"/>
      <p:bldP spid="95" grpId="0"/>
      <p:bldP spid="96" grpId="0" animBg="1"/>
      <p:bldP spid="97" grpId="0" animBg="1"/>
      <p:bldP spid="98" grpId="0" animBg="1"/>
      <p:bldP spid="99" grpId="0" animBg="1"/>
      <p:bldP spid="100" grpId="0"/>
      <p:bldP spid="101" grpId="0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/>
      <p:bldP spid="114" grpId="0"/>
      <p:bldP spid="115" grpId="0" animBg="1"/>
      <p:bldP spid="116" grpId="0" animBg="1"/>
      <p:bldP spid="117" grpId="0" animBg="1"/>
      <p:bldP spid="118" grpId="0" animBg="1"/>
      <p:bldP spid="119" grpId="0"/>
      <p:bldP spid="120" grpId="0"/>
      <p:bldP spid="121" grpId="0" animBg="1"/>
      <p:bldP spid="122" grpId="0" animBg="1"/>
      <p:bldP spid="123" grpId="0" animBg="1"/>
      <p:bldP spid="124" grpId="0" animBg="1"/>
      <p:bldP spid="125" grpId="0"/>
      <p:bldP spid="12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293</Words>
  <Application>Microsoft Office PowerPoint</Application>
  <PresentationFormat>Custom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KARTHIKEYAN MUTHUKUMAR</cp:lastModifiedBy>
  <cp:revision>5</cp:revision>
  <dcterms:created xsi:type="dcterms:W3CDTF">2013-01-27T09:14:16Z</dcterms:created>
  <dcterms:modified xsi:type="dcterms:W3CDTF">2026-09-05T19:55:55Z</dcterms:modified>
  <cp:category/>
</cp:coreProperties>
</file>