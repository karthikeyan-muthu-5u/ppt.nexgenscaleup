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C2136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94A3B8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16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64748B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0E121A"/>
          </a:solidFill>
          <a:ln w="12700">
            <a:solidFill>
              <a:srgbClr val="18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64748B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0E121A"/>
          </a:solidFill>
          <a:ln w="12700">
            <a:solidFill>
              <a:srgbClr val="18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64748B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0E121A"/>
          </a:solidFill>
          <a:ln w="12700">
            <a:solidFill>
              <a:srgbClr val="18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64748B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101620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64748B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161D29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Disparate Manual Actions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C2136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94A3B8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16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64748B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0E121A"/>
          </a:solidFill>
          <a:ln w="12700">
            <a:solidFill>
              <a:srgbClr val="18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64748B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0E121A"/>
          </a:solidFill>
          <a:ln w="12700">
            <a:solidFill>
              <a:srgbClr val="18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64748B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101620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64748B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161D29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Disparate Manual Actions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64748B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64748B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60600" y="2057400"/>
            <a:ext cx="101600" cy="1943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60600" y="3378200"/>
            <a:ext cx="101600" cy="749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60600" y="4254500"/>
            <a:ext cx="101600" cy="44450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260600" y="4381500"/>
            <a:ext cx="101600" cy="16383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C2136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94A3B8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E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16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64748B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366F1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E11D48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F141C"/>
          </a:solidFill>
          <a:ln w="1016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94A3B8"/>
                </a:solidFill>
                <a:latin typeface="Segoe UI"/>
              </a:defRPr>
            </a:pPr>
            <a:r>
              <a:t>TARGET: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101620"/>
          </a:solidFill>
          <a:ln w="12700">
            <a:solidFill>
              <a:srgbClr val="23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64748B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161D29"/>
          </a:solidFill>
          <a:ln w="1270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Disparate Manual Actions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161D29"/>
          </a:solidFill>
          <a:ln w="7620">
            <a:solidFill>
              <a:srgbClr val="2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94A3B8"/>
                </a:solidFill>
                <a:latin typeface="Segoe UI"/>
              </a:defRPr>
            </a:pPr>
            <a:r>
              <a:t>⚙️ AS-IS: Manual Step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60600" y="2057400"/>
            <a:ext cx="101600" cy="1943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60600" y="3378200"/>
            <a:ext cx="101600" cy="749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60600" y="4254500"/>
            <a:ext cx="101600" cy="44450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260600" y="4381500"/>
            <a:ext cx="101600" cy="16383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76800" y="2057400"/>
            <a:ext cx="101600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76800" y="3378200"/>
            <a:ext cx="101600" cy="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76800" y="4699000"/>
            <a:ext cx="101600" cy="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876800" y="6019800"/>
            <a:ext cx="101600" cy="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213600" y="2057400"/>
            <a:ext cx="101600" cy="1905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213600" y="2374900"/>
            <a:ext cx="101600" cy="1003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13600" y="2501900"/>
            <a:ext cx="101600" cy="2197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213600" y="2628900"/>
            <a:ext cx="101600" cy="33909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29600" y="3048000"/>
            <a:ext cx="0" cy="1905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229600" y="4838700"/>
            <a:ext cx="0" cy="1905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34D399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4D399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0A1E30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8BDF8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16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64748B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0151E"/>
          </a:solidFill>
          <a:ln w="12700">
            <a:solidFill>
              <a:srgbClr val="1C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64748B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366F1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E11D48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Auto-Data Pipeline Sync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Partner Matrix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ML Exception Categorizer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34D399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F8FAFC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Centralized Autonomous Hub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Auto-Scope &amp; Ledger Audit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Sign &amp; Allocation Inverter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Self-Healing IDoc Reprocessor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Auto-Bilateral Settlement Ping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Self-Repairing IDoc Bot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Smart OCR Invoice Voucher Fetch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Variance Root-Cause Engine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Counterparty Handshake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Touchless Postback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Autonomous AI Chaser Bot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Auto-SLA Hierarchy Escalator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60600" y="2057400"/>
            <a:ext cx="101600" cy="1943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60600" y="3378200"/>
            <a:ext cx="101600" cy="749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60600" y="4254500"/>
            <a:ext cx="101600" cy="44450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260600" y="4381500"/>
            <a:ext cx="101600" cy="16383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76800" y="2057400"/>
            <a:ext cx="101600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76800" y="3378200"/>
            <a:ext cx="101600" cy="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76800" y="4699000"/>
            <a:ext cx="101600" cy="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876800" y="6019800"/>
            <a:ext cx="101600" cy="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213600" y="2057400"/>
            <a:ext cx="101600" cy="1905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213600" y="2374900"/>
            <a:ext cx="101600" cy="1003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13600" y="2501900"/>
            <a:ext cx="101600" cy="2197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213600" y="2628900"/>
            <a:ext cx="101600" cy="33909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29600" y="3048000"/>
            <a:ext cx="0" cy="1905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229600" y="4838700"/>
            <a:ext cx="0" cy="1905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34D399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4D399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0A1E30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8BDF8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366F1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E11D48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Auto-Data Pipeline Sync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Partner Matrix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ML Exception Categorizer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34D399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F8FAFC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Centralized Autonomous Hub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Auto-Scope &amp; Ledger Audit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Sign &amp; Allocation Inverter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Self-Healing IDoc Reprocessor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Auto-Bilateral Settlement Ping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Self-Repairing IDoc Bot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Smart OCR Invoice Voucher Fetch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Variance Root-Cause Engine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Counterparty Handshake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Touchless Postback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Autonomous AI Chaser Bot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Auto-SLA Hierarchy Escalator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60600" y="2057400"/>
            <a:ext cx="101600" cy="1943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60600" y="3378200"/>
            <a:ext cx="101600" cy="749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60600" y="4254500"/>
            <a:ext cx="101600" cy="44450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260600" y="4381500"/>
            <a:ext cx="101600" cy="16383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76800" y="2057400"/>
            <a:ext cx="101600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76800" y="3378200"/>
            <a:ext cx="101600" cy="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76800" y="4699000"/>
            <a:ext cx="101600" cy="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876800" y="6019800"/>
            <a:ext cx="101600" cy="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213600" y="2057400"/>
            <a:ext cx="101600" cy="1905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213600" y="2374900"/>
            <a:ext cx="101600" cy="1003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13600" y="2501900"/>
            <a:ext cx="101600" cy="2197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213600" y="2628900"/>
            <a:ext cx="101600" cy="33909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29600" y="3048000"/>
            <a:ext cx="0" cy="1905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229600" y="4838700"/>
            <a:ext cx="0" cy="1905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